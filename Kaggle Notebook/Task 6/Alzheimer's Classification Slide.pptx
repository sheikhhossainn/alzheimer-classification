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ato" charset="1" panose="020F0502020204030203"/>
      <p:regular r:id="rId18"/>
    </p:embeddedFont>
    <p:embeddedFont>
      <p:font typeface="Lato Bold" charset="1" panose="020F0502020204030203"/>
      <p:regular r:id="rId19"/>
    </p:embeddedFont>
    <p:embeddedFont>
      <p:font typeface="Arimo" charset="1" panose="020B0604020202020204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2735" y="3076774"/>
            <a:ext cx="9750800" cy="340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0"/>
              </a:lnSpc>
            </a:pPr>
            <a:r>
              <a:rPr lang="en-US" sz="131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Alzheimer’s Classification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4712497" y="4591188"/>
            <a:ext cx="225880" cy="5403316"/>
            <a:chOff x="0" y="0"/>
            <a:chExt cx="301173" cy="720442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5477180" y="1130365"/>
            <a:ext cx="1352255" cy="274763"/>
            <a:chOff x="0" y="0"/>
            <a:chExt cx="1803007" cy="366350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-381720" y="-218676"/>
            <a:ext cx="1410420" cy="10724351"/>
            <a:chOff x="0" y="0"/>
            <a:chExt cx="371469" cy="28245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1469" cy="2824520"/>
            </a:xfrm>
            <a:custGeom>
              <a:avLst/>
              <a:gdLst/>
              <a:ahLst/>
              <a:cxnLst/>
              <a:rect r="r" b="b" t="t" l="l"/>
              <a:pathLst>
                <a:path h="2824520" w="371469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229320" y="-66276"/>
            <a:ext cx="1258020" cy="1655660"/>
            <a:chOff x="0" y="0"/>
            <a:chExt cx="331330" cy="4360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1330" cy="436059"/>
            </a:xfrm>
            <a:custGeom>
              <a:avLst/>
              <a:gdLst/>
              <a:ahLst/>
              <a:cxnLst/>
              <a:rect r="r" b="b" t="t" l="l"/>
              <a:pathLst>
                <a:path h="436059" w="331330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372351" y="8014988"/>
            <a:ext cx="84570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Humaira Habib Usha (2023-1-60-022)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68873" y="958067"/>
            <a:ext cx="1599084" cy="61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Artificial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5400000">
            <a:off x="14226962" y="4992052"/>
            <a:ext cx="488300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1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20 April, 2026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066778" y="910442"/>
            <a:ext cx="637831" cy="660654"/>
          </a:xfrm>
          <a:custGeom>
            <a:avLst/>
            <a:gdLst/>
            <a:ahLst/>
            <a:cxnLst/>
            <a:rect r="r" b="b" t="t" l="l"/>
            <a:pathLst>
              <a:path h="660654" w="637831">
                <a:moveTo>
                  <a:pt x="0" y="0"/>
                </a:moveTo>
                <a:lnTo>
                  <a:pt x="637831" y="0"/>
                </a:lnTo>
                <a:lnTo>
                  <a:pt x="637831" y="660654"/>
                </a:lnTo>
                <a:lnTo>
                  <a:pt x="0" y="66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372351" y="8478393"/>
            <a:ext cx="84570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Shawna Akter (2023-1-60-071)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72351" y="8943213"/>
            <a:ext cx="84570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Bushra Khan Zhilik (2023-1-60-087)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72351" y="9408033"/>
            <a:ext cx="84570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9"/>
              </a:lnSpc>
            </a:pPr>
            <a:r>
              <a:rPr lang="en-US" sz="2199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Sheikh Hossain Bin Bakhtiar (2023-1-60-060)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8080" y="4220069"/>
            <a:ext cx="6108624" cy="100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46730" y="1993848"/>
            <a:ext cx="379012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6730" y="4980623"/>
            <a:ext cx="379012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Pretrained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94741" y="1990938"/>
            <a:ext cx="3485179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Results and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6730" y="3487235"/>
            <a:ext cx="379012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EDA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46730" y="7967397"/>
            <a:ext cx="379012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CBAM CNN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94741" y="3485053"/>
            <a:ext cx="3485179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46730" y="6474010"/>
            <a:ext cx="379012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Custom CNN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3796798" y="3053843"/>
            <a:ext cx="225880" cy="5403316"/>
            <a:chOff x="0" y="0"/>
            <a:chExt cx="301173" cy="720442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7478630" y="1939555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21895" y="1939555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8630" y="4924980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8630" y="3432943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21895" y="3432943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78630" y="6418368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78630" y="7913105"/>
            <a:ext cx="111077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46583" y="0"/>
            <a:ext cx="6090065" cy="8316606"/>
            <a:chOff x="0" y="0"/>
            <a:chExt cx="943510" cy="128846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943511" cy="1288460"/>
            </a:xfrm>
            <a:custGeom>
              <a:avLst/>
              <a:gdLst/>
              <a:ahLst/>
              <a:cxnLst/>
              <a:rect r="r" b="b" t="t" l="l"/>
              <a:pathLst>
                <a:path h="1288460" w="943511">
                  <a:moveTo>
                    <a:pt x="0" y="1288460"/>
                  </a:moveTo>
                  <a:lnTo>
                    <a:pt x="943511" y="1288460"/>
                  </a:lnTo>
                  <a:lnTo>
                    <a:pt x="943511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73" r="0" b="-457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1352" y="4555490"/>
            <a:ext cx="7592648" cy="470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09"/>
              </a:lnSpc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Alzh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eimer’s disease (AD) is a progressive neurodegenera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ve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disor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er that graduall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dest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roy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 mem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ory,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co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 a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ilities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an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t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cap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ac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ty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tasks.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 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mos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comm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of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enti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worldwide</a:t>
            </a: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. The patterns are: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Hippocampal atrophy (shrinkage of the memory centre)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Cortical thinning (especially in the temporal and parietal lobes)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Ventricular enlargement (increased fluid spaces)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Reduced grey matter volume and disrupted brain connectivity</a:t>
            </a:r>
          </a:p>
          <a:p>
            <a:pPr algn="just" marL="0" indent="0" lvl="0">
              <a:lnSpc>
                <a:spcPts val="340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51352" y="2138667"/>
            <a:ext cx="7486517" cy="100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1352" y="3891250"/>
            <a:ext cx="7592648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What is Alzheimer and how to indentify it?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73387" y="2241078"/>
            <a:ext cx="8362795" cy="6111007"/>
            <a:chOff x="0" y="0"/>
            <a:chExt cx="1295616" cy="946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616" cy="946755"/>
            </a:xfrm>
            <a:custGeom>
              <a:avLst/>
              <a:gdLst/>
              <a:ahLst/>
              <a:cxnLst/>
              <a:rect r="r" b="b" t="t" l="l"/>
              <a:pathLst>
                <a:path h="946755" w="1295616">
                  <a:moveTo>
                    <a:pt x="0" y="0"/>
                  </a:moveTo>
                  <a:lnTo>
                    <a:pt x="1295616" y="0"/>
                  </a:lnTo>
                  <a:lnTo>
                    <a:pt x="1295616" y="946755"/>
                  </a:lnTo>
                  <a:lnTo>
                    <a:pt x="0" y="946755"/>
                  </a:lnTo>
                  <a:close/>
                </a:path>
              </a:pathLst>
            </a:custGeom>
            <a:blipFill>
              <a:blip r:embed="rId2"/>
              <a:stretch>
                <a:fillRect l="-112" t="0" r="-11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169235" y="1802926"/>
            <a:ext cx="6090065" cy="100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EDA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9235" y="3740863"/>
            <a:ext cx="6090065" cy="513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4 classes: ModerateDemented, MildDemented, VeryMildDemented, NonDemented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The training set is synthetically balanced; the validation set is realistically imbalanced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Images are clean axial MRI slices (skull-stripped) but have inconsistent resolutions (180×180 to 200×190)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All images will be resized to 128×128 and normalized to [0, 1]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 total of 33,984 images were used for training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For validation, 6,400 images were used</a:t>
            </a:r>
          </a:p>
          <a:p>
            <a:pPr algn="l">
              <a:lnSpc>
                <a:spcPts val="340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5400000">
            <a:off x="489954" y="7538577"/>
            <a:ext cx="1352255" cy="274763"/>
            <a:chOff x="0" y="0"/>
            <a:chExt cx="1803007" cy="366350"/>
          </a:xfrm>
        </p:grpSpPr>
        <p:grpSp>
          <p:nvGrpSpPr>
            <p:cNvPr name="Group 7" id="7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275" y="237793"/>
            <a:ext cx="9111929" cy="9894713"/>
          </a:xfrm>
          <a:custGeom>
            <a:avLst/>
            <a:gdLst/>
            <a:ahLst/>
            <a:cxnLst/>
            <a:rect r="r" b="b" t="t" l="l"/>
            <a:pathLst>
              <a:path h="9894713" w="9111929">
                <a:moveTo>
                  <a:pt x="0" y="0"/>
                </a:moveTo>
                <a:lnTo>
                  <a:pt x="9111929" y="0"/>
                </a:lnTo>
                <a:lnTo>
                  <a:pt x="9111929" y="9894713"/>
                </a:lnTo>
                <a:lnTo>
                  <a:pt x="0" y="9894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5" b="-152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69235" y="3740863"/>
            <a:ext cx="6090065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Pre-trained on ImageNet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Frozen backbon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Input shape: 224×224×3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Architecture: 50 layers with bottleneck residual blocks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Top l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ayers removed 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(learning rate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295116" y="2197542"/>
            <a:ext cx="9838302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ResNet50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90965" y="715899"/>
            <a:ext cx="9844242" cy="9013649"/>
          </a:xfrm>
          <a:custGeom>
            <a:avLst/>
            <a:gdLst/>
            <a:ahLst/>
            <a:cxnLst/>
            <a:rect r="r" b="b" t="t" l="l"/>
            <a:pathLst>
              <a:path h="9013649" w="9844242">
                <a:moveTo>
                  <a:pt x="0" y="0"/>
                </a:moveTo>
                <a:lnTo>
                  <a:pt x="9844242" y="0"/>
                </a:lnTo>
                <a:lnTo>
                  <a:pt x="9844242" y="9013649"/>
                </a:lnTo>
                <a:lnTo>
                  <a:pt x="0" y="9013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651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95116" y="2197542"/>
            <a:ext cx="9838302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DenseNetV2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9235" y="3740863"/>
            <a:ext cx="6090065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Pre-trained on ImageNet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Frozen backbon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Input shape: 224×224×3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Architecture: Dense connections (4 Dense Blocks + Transition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l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ayers), 121 layers total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Final features: 7×7×1024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(lr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0467" y="132791"/>
            <a:ext cx="9058883" cy="9758309"/>
          </a:xfrm>
          <a:custGeom>
            <a:avLst/>
            <a:gdLst/>
            <a:ahLst/>
            <a:cxnLst/>
            <a:rect r="r" b="b" t="t" l="l"/>
            <a:pathLst>
              <a:path h="9758309" w="9058883">
                <a:moveTo>
                  <a:pt x="0" y="0"/>
                </a:moveTo>
                <a:lnTo>
                  <a:pt x="9058883" y="0"/>
                </a:lnTo>
                <a:lnTo>
                  <a:pt x="9058883" y="9758309"/>
                </a:lnTo>
                <a:lnTo>
                  <a:pt x="0" y="9758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04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69235" y="3740863"/>
            <a:ext cx="6090065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Pre-trained on ImageNet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Frozen backbon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Input shape: 224×224×3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Architecture: Compound scaling + MBConv blocks with Squeeze-and-Excitation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Top l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ayers removed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(learning rate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731836" y="2197542"/>
            <a:ext cx="9838302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EfficientNetB0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41691" y="1028700"/>
            <a:ext cx="9585691" cy="8703811"/>
          </a:xfrm>
          <a:custGeom>
            <a:avLst/>
            <a:gdLst/>
            <a:ahLst/>
            <a:cxnLst/>
            <a:rect r="r" b="b" t="t" l="l"/>
            <a:pathLst>
              <a:path h="8703811" w="9585691">
                <a:moveTo>
                  <a:pt x="0" y="0"/>
                </a:moveTo>
                <a:lnTo>
                  <a:pt x="9585691" y="0"/>
                </a:lnTo>
                <a:lnTo>
                  <a:pt x="9585691" y="8703811"/>
                </a:lnTo>
                <a:lnTo>
                  <a:pt x="0" y="870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81" b="-3915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2197542"/>
            <a:ext cx="9067404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Custom CNN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9235" y="3740863"/>
            <a:ext cx="6090065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Built from scratch (no pretrained weights)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4 Conv Blocks: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Conv2D(32)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→ BN → ReLU → MaxPool(2×2)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Conv2D(64) → BN → ReLU → MaxPool(2×2)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Conv2D(128) → BN → ReLU → MaxPool(2×2)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Conv2D(256) → BN → ReLU → MaxPo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ol(2×2)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(learning rate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65960" y="140820"/>
            <a:ext cx="9309960" cy="9981326"/>
          </a:xfrm>
          <a:custGeom>
            <a:avLst/>
            <a:gdLst/>
            <a:ahLst/>
            <a:cxnLst/>
            <a:rect r="r" b="b" t="t" l="l"/>
            <a:pathLst>
              <a:path h="9981326" w="9309960">
                <a:moveTo>
                  <a:pt x="0" y="0"/>
                </a:moveTo>
                <a:lnTo>
                  <a:pt x="9309960" y="0"/>
                </a:lnTo>
                <a:lnTo>
                  <a:pt x="9309960" y="9981326"/>
                </a:lnTo>
                <a:lnTo>
                  <a:pt x="0" y="998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59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69235" y="3740863"/>
            <a:ext cx="6090065" cy="598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Pre-trained on ImageNet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Frozen backbon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Input shape: 224×224×3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Architecture: Inverted residual blocks with depthwise separable convolutions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Top l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ayers removed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(learning rate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083078" y="2197542"/>
            <a:ext cx="9838302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MobileNetV2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07045" y="998589"/>
            <a:ext cx="274763" cy="274763"/>
            <a:chOff x="0" y="0"/>
            <a:chExt cx="178795" cy="17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2534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445791" y="998589"/>
            <a:ext cx="274763" cy="274763"/>
            <a:chOff x="0" y="0"/>
            <a:chExt cx="178795" cy="178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B29E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6984537" y="998589"/>
            <a:ext cx="274763" cy="274763"/>
            <a:chOff x="0" y="0"/>
            <a:chExt cx="178795" cy="178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795" cy="178795"/>
            </a:xfrm>
            <a:custGeom>
              <a:avLst/>
              <a:gdLst/>
              <a:ahLst/>
              <a:cxnLst/>
              <a:rect r="r" b="b" t="t" l="l"/>
              <a:pathLst>
                <a:path h="178795" w="178795">
                  <a:moveTo>
                    <a:pt x="0" y="0"/>
                  </a:moveTo>
                  <a:lnTo>
                    <a:pt x="178795" y="0"/>
                  </a:lnTo>
                  <a:lnTo>
                    <a:pt x="178795" y="178795"/>
                  </a:lnTo>
                  <a:lnTo>
                    <a:pt x="0" y="178795"/>
                  </a:lnTo>
                  <a:close/>
                </a:path>
              </a:pathLst>
            </a:custGeom>
            <a:solidFill>
              <a:srgbClr val="7C89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8795" cy="216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3103" y="258389"/>
            <a:ext cx="8710897" cy="10888622"/>
          </a:xfrm>
          <a:custGeom>
            <a:avLst/>
            <a:gdLst/>
            <a:ahLst/>
            <a:cxnLst/>
            <a:rect r="r" b="b" t="t" l="l"/>
            <a:pathLst>
              <a:path h="10888622" w="8710897">
                <a:moveTo>
                  <a:pt x="0" y="0"/>
                </a:moveTo>
                <a:lnTo>
                  <a:pt x="8710897" y="0"/>
                </a:lnTo>
                <a:lnTo>
                  <a:pt x="8710897" y="10888622"/>
                </a:lnTo>
                <a:lnTo>
                  <a:pt x="0" y="1088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05" r="0" b="-250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49500" y="2197542"/>
            <a:ext cx="7538500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CBAM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9235" y="3740863"/>
            <a:ext cx="6090065" cy="641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Custom CNN with CBAM (Channel + Spatial Attention)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4 Conv Blocks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Conv2D(32/64/128/256)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 → BN → ReLU → MaxPool(2×2)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CBAM inserted after every Conv Block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GlobalAveragePooling2D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Dense(256, ReLU)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Dropout(0.5)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Dense(4, softmax)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No pretrained weights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Opt</a:t>
            </a: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imizer: Adam (learning rate = 0.0001)</a:t>
            </a:r>
          </a:p>
          <a:p>
            <a:pPr algn="l" marL="474978" indent="-237489" lvl="1">
              <a:lnSpc>
                <a:spcPts val="3409"/>
              </a:lnSpc>
              <a:buFont typeface="Arial"/>
              <a:buChar char="•"/>
            </a:pPr>
            <a:r>
              <a:rPr lang="en-US" sz="2199" spc="-43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Used in 5-fold StratifiedKFold with MirroredStrategy (Dual GPU)</a:t>
            </a:r>
          </a:p>
          <a:p>
            <a:pPr algn="l">
              <a:lnSpc>
                <a:spcPts val="340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40418" y="2464180"/>
          <a:ext cx="10664384" cy="6715125"/>
        </p:xfrm>
        <a:graphic>
          <a:graphicData uri="http://schemas.openxmlformats.org/drawingml/2006/table">
            <a:tbl>
              <a:tblPr/>
              <a:tblGrid>
                <a:gridCol w="2132877"/>
                <a:gridCol w="2132877"/>
                <a:gridCol w="2132877"/>
                <a:gridCol w="2132877"/>
                <a:gridCol w="2132877"/>
              </a:tblGrid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Accuracies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39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CBAM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93.71%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93.71%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93.70%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93.79%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RESNET50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92.87%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92.87%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92.87%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92.92%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MOBILENETV2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91.36%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91.36%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91.34%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91.41%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EFFICIENTNETB0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87.97%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87.98%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DENSENET21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87.48%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87.47%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87.43%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87.48%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  <a:tr h="9593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72.59%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72.59%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71.37%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76.68%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E84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1842757" y="2535392"/>
            <a:ext cx="6090065" cy="51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9"/>
              </a:lnSpc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Why CBAM CNN Surpassed All: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CBAM adds Channel + Spatial Attention after every Conv block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Forces the model to focus on important brain regions (hippocampus, ventricles, atrophy areas)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Suppresses irrelevant background and noise in MRI images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Fully trainable custom architecture (better adaptation than frozen backbones)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Attention mechanism gave huge boost over plain Custom CNN (93.71% vs 72.59%)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strike="noStrike" u="none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Best balance of feature learning + focus for this specific medical task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14732" y="1654550"/>
            <a:ext cx="6090065" cy="8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Rese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sul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6000" strike="noStrike" u="non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0418" y="505198"/>
            <a:ext cx="8195364" cy="100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Model Comparison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0418" y="1290694"/>
            <a:ext cx="6090065" cy="71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9"/>
              </a:lnSpc>
              <a:spcBef>
                <a:spcPct val="0"/>
              </a:spcBef>
            </a:pPr>
            <a:r>
              <a:rPr lang="en-US" sz="2999" spc="-59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5-fold cross-validation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5458" y="2917393"/>
            <a:ext cx="8457083" cy="375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F6F4F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4838" y="958067"/>
            <a:ext cx="1599084" cy="61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true">
                <a:solidFill>
                  <a:srgbClr val="F6F4F1"/>
                </a:solidFill>
                <a:latin typeface="Lato Bold"/>
                <a:ea typeface="Lato Bold"/>
                <a:cs typeface="Lato Bold"/>
                <a:sym typeface="Lato Bold"/>
              </a:rPr>
              <a:t>Artificial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5400000">
            <a:off x="14497478" y="4971097"/>
            <a:ext cx="488300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F6F4F1"/>
                </a:solidFill>
                <a:latin typeface="Lato"/>
                <a:ea typeface="Lato"/>
                <a:cs typeface="Lato"/>
                <a:sym typeface="Lato"/>
              </a:rPr>
              <a:t>20 April, 2026</a:t>
            </a: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9031060" y="4591188"/>
            <a:ext cx="225880" cy="5403316"/>
            <a:chOff x="0" y="0"/>
            <a:chExt cx="301173" cy="72044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01173" cy="7204422"/>
              <a:chOff x="0" y="0"/>
              <a:chExt cx="59491" cy="14230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9491" cy="1423096"/>
              </a:xfrm>
              <a:custGeom>
                <a:avLst/>
                <a:gdLst/>
                <a:ahLst/>
                <a:cxnLst/>
                <a:rect r="r" b="b" t="t" l="l"/>
                <a:pathLst>
                  <a:path h="142309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01173" cy="1830478"/>
              <a:chOff x="0" y="0"/>
              <a:chExt cx="59491" cy="36157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9491" cy="361576"/>
              </a:xfrm>
              <a:custGeom>
                <a:avLst/>
                <a:gdLst/>
                <a:ahLst/>
                <a:cxnLst/>
                <a:rect r="r" b="b" t="t" l="l"/>
                <a:pathLst>
                  <a:path h="361576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9491" cy="157064"/>
              </a:xfrm>
              <a:custGeom>
                <a:avLst/>
                <a:gdLst/>
                <a:ahLst/>
                <a:cxnLst/>
                <a:rect r="r" b="b" t="t" l="l"/>
                <a:pathLst>
                  <a:path h="157064" w="59491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5477180" y="1130365"/>
            <a:ext cx="1352255" cy="274763"/>
            <a:chOff x="0" y="0"/>
            <a:chExt cx="1803007" cy="366350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78795" cy="178795"/>
              </a:xfrm>
              <a:custGeom>
                <a:avLst/>
                <a:gdLst/>
                <a:ahLst/>
                <a:cxnLst/>
                <a:rect r="r" b="b" t="t" l="l"/>
                <a:pathLst>
                  <a:path h="178795" w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065722" y="910442"/>
            <a:ext cx="637831" cy="660654"/>
          </a:xfrm>
          <a:custGeom>
            <a:avLst/>
            <a:gdLst/>
            <a:ahLst/>
            <a:cxnLst/>
            <a:rect r="r" b="b" t="t" l="l"/>
            <a:pathLst>
              <a:path h="660654" w="637831">
                <a:moveTo>
                  <a:pt x="0" y="0"/>
                </a:moveTo>
                <a:lnTo>
                  <a:pt x="637831" y="0"/>
                </a:lnTo>
                <a:lnTo>
                  <a:pt x="637831" y="660654"/>
                </a:lnTo>
                <a:lnTo>
                  <a:pt x="0" y="66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DAHHUygcznU</dc:identifier>
  <dcterms:modified xsi:type="dcterms:W3CDTF">2011-08-01T06:04:30Z</dcterms:modified>
  <cp:revision>1</cp:revision>
  <dc:title>Gray and White Simple Thesis Defense Presentation</dc:title>
</cp:coreProperties>
</file>